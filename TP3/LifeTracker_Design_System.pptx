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7700" y="533400"/>
            <a:ext cx="3179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7322324" y="9448800"/>
            <a:ext cx="3179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52684" y="2219325"/>
            <a:ext cx="117824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spc="488" kern="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FIUBA - CEIA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3252684" y="2495550"/>
            <a:ext cx="117824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spc="488" kern="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INTRODUCCIÓN A INGENIERÍA DE SOFTWARE ASISTIDO CON IA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3522123" y="3209925"/>
            <a:ext cx="11243754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00" b="1" spc="594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LifeTracker ✦</a:t>
            </a:r>
            <a:endParaRPr lang="en-US" sz="9900" dirty="0"/>
          </a:p>
        </p:txBody>
      </p:sp>
      <p:sp>
        <p:nvSpPr>
          <p:cNvPr id="7" name="Text 5"/>
          <p:cNvSpPr/>
          <p:nvPr/>
        </p:nvSpPr>
        <p:spPr>
          <a:xfrm>
            <a:off x="6562693" y="4752975"/>
            <a:ext cx="516261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i="1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Guardián de tus memorias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8572500" y="5695950"/>
            <a:ext cx="1143000" cy="9525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9" name="Text 7"/>
          <p:cNvSpPr/>
          <p:nvPr/>
        </p:nvSpPr>
        <p:spPr>
          <a:xfrm>
            <a:off x="3355657" y="6181725"/>
            <a:ext cx="1157668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75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app web construida con </a:t>
            </a:r>
            <a:pPr algn="ctr" indent="0" marL="0">
              <a:lnSpc>
                <a:spcPct val="150000"/>
              </a:lnSpc>
              <a:buNone/>
            </a:pPr>
            <a:r>
              <a:rPr lang="en-US" sz="2475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Superpowers </a:t>
            </a:r>
            <a:pPr algn="ctr" indent="0" marL="0">
              <a:lnSpc>
                <a:spcPct val="150000"/>
              </a:lnSpc>
              <a:buNone/>
            </a:pPr>
            <a:r>
              <a:rPr lang="en-US" sz="2475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brainstorming, planes con TDD, subagentes y verificación.</a:t>
            </a:r>
            <a:endParaRPr lang="en-US" sz="2475" dirty="0"/>
          </a:p>
        </p:txBody>
      </p:sp>
      <p:sp>
        <p:nvSpPr>
          <p:cNvPr id="10" name="Text 8"/>
          <p:cNvSpPr/>
          <p:nvPr/>
        </p:nvSpPr>
        <p:spPr>
          <a:xfrm>
            <a:off x="5159724" y="7791450"/>
            <a:ext cx="44277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44" kern="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Alexis Barniquez · Bárbara Cerezo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62503" y="7791450"/>
            <a:ext cx="27574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44" kern="0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98883" y="7791450"/>
            <a:ext cx="25435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44" kern="0" dirty="0">
                <a:solidFill>
                  <a:srgbClr val="8A7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de junio de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345" kern="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— EL PROYECTO</a:t>
            </a:r>
            <a:endParaRPr lang="en-US" sz="1725" dirty="0"/>
          </a:p>
        </p:txBody>
      </p:sp>
      <p:sp>
        <p:nvSpPr>
          <p:cNvPr id="3" name="Text 1"/>
          <p:cNvSpPr/>
          <p:nvPr/>
        </p:nvSpPr>
        <p:spPr>
          <a:xfrm>
            <a:off x="1143000" y="1257300"/>
            <a:ext cx="17602200" cy="778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50" b="1" spc="167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LifeTracker?</a:t>
            </a:r>
            <a:endParaRPr lang="en-US" sz="5550" dirty="0"/>
          </a:p>
        </p:txBody>
      </p:sp>
      <p:sp>
        <p:nvSpPr>
          <p:cNvPr id="4" name="Text 2"/>
          <p:cNvSpPr/>
          <p:nvPr/>
        </p:nvSpPr>
        <p:spPr>
          <a:xfrm>
            <a:off x="1143000" y="3058478"/>
            <a:ext cx="779954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app web para guardar lo que viviste: conciertos, libros, películas, ciudades y lugares. Al cierre del año, un resumen estilo </a:t>
            </a:r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Spotify Wrapped </a:t>
            </a:r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</a:t>
            </a:r>
            <a:pPr algn="l" indent="0" marL="0">
              <a:lnSpc>
                <a:spcPct val="150000"/>
              </a:lnSpc>
              <a:buNone/>
            </a:pPr>
            <a:r>
              <a:rPr lang="en-US" sz="2550" i="1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año en resumen </a:t>
            </a:r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5287327"/>
            <a:ext cx="2495867" cy="504825"/>
          </a:xfrm>
          <a:prstGeom prst="roundRect">
            <a:avLst>
              <a:gd name="adj" fmla="val 50000"/>
            </a:avLst>
          </a:prstGeom>
          <a:solidFill>
            <a:srgbClr val="22223A"/>
          </a:solidFill>
          <a:ln w="9525">
            <a:solidFill>
              <a:srgbClr val="3D2B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5401627"/>
            <a:ext cx="213391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Multi-usuario · JWT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772217" y="5287327"/>
            <a:ext cx="1636712" cy="504825"/>
          </a:xfrm>
          <a:prstGeom prst="roundRect">
            <a:avLst>
              <a:gd name="adj" fmla="val 50000"/>
            </a:avLst>
          </a:prstGeom>
          <a:solidFill>
            <a:srgbClr val="22223A"/>
          </a:solidFill>
          <a:ln w="9525">
            <a:solidFill>
              <a:srgbClr val="3D2B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91292" y="5401627"/>
            <a:ext cx="12747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categorías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542280" y="5287327"/>
            <a:ext cx="2818924" cy="504825"/>
          </a:xfrm>
          <a:prstGeom prst="roundRect">
            <a:avLst>
              <a:gd name="adj" fmla="val 50000"/>
            </a:avLst>
          </a:prstGeom>
          <a:solidFill>
            <a:srgbClr val="22223A"/>
          </a:solidFill>
          <a:ln w="9525">
            <a:solidFill>
              <a:srgbClr val="3D2B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1355" y="5401627"/>
            <a:ext cx="24653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Resúmenes on-demand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5925502"/>
            <a:ext cx="1880235" cy="504825"/>
          </a:xfrm>
          <a:prstGeom prst="roundRect">
            <a:avLst>
              <a:gd name="adj" fmla="val 50000"/>
            </a:avLst>
          </a:prstGeom>
          <a:solidFill>
            <a:srgbClr val="22223A"/>
          </a:solidFill>
          <a:ln w="9525">
            <a:solidFill>
              <a:srgbClr val="3D2B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62075" y="6039802"/>
            <a:ext cx="15182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Metas anuales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6716077"/>
            <a:ext cx="7572375" cy="2128838"/>
          </a:xfrm>
          <a:prstGeom prst="roundRect">
            <a:avLst>
              <a:gd name="adj" fmla="val 3579"/>
            </a:avLst>
          </a:prstGeom>
          <a:solidFill>
            <a:srgbClr val="1A1A2E"/>
          </a:solidFill>
          <a:ln w="9525">
            <a:solidFill>
              <a:srgbClr val="3D2B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7300" y="6801802"/>
            <a:ext cx="181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95348" y="8597265"/>
            <a:ext cx="181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438275" y="6992302"/>
            <a:ext cx="768000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EL TRÁBAJO PRÁCTICO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438275" y="7325677"/>
            <a:ext cx="7191280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Sumamos una feature completa de extremo a extremo: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Metas anuales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progreso automático — y la construimos con el flujo Superpowers.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324975" y="3615055"/>
            <a:ext cx="7820025" cy="4673123"/>
          </a:xfrm>
          <a:prstGeom prst="roundRect">
            <a:avLst>
              <a:gd name="adj" fmla="val 2038"/>
            </a:avLst>
          </a:prstGeom>
          <a:solidFill>
            <a:srgbClr val="1A1A2E"/>
          </a:solidFill>
          <a:ln w="9525">
            <a:solidFill>
              <a:srgbClr val="3D2B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58325" y="3710305"/>
            <a:ext cx="18954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6898302" y="8021479"/>
            <a:ext cx="18954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125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0" y="3738880"/>
            <a:ext cx="7572375" cy="44254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345" kern="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— EL MÉTODO</a:t>
            </a:r>
            <a:endParaRPr lang="en-US" sz="1725" dirty="0"/>
          </a:p>
        </p:txBody>
      </p:sp>
      <p:sp>
        <p:nvSpPr>
          <p:cNvPr id="3" name="Text 1"/>
          <p:cNvSpPr/>
          <p:nvPr/>
        </p:nvSpPr>
        <p:spPr>
          <a:xfrm>
            <a:off x="1047750" y="1257300"/>
            <a:ext cx="17811750" cy="778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50" b="1" spc="167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flujo Superpowers</a:t>
            </a:r>
            <a:endParaRPr lang="en-US" sz="5550" dirty="0"/>
          </a:p>
        </p:txBody>
      </p:sp>
      <p:sp>
        <p:nvSpPr>
          <p:cNvPr id="4" name="Text 2"/>
          <p:cNvSpPr/>
          <p:nvPr/>
        </p:nvSpPr>
        <p:spPr>
          <a:xfrm>
            <a:off x="1047750" y="2168842"/>
            <a:ext cx="1373505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pipeline disciplinado: diseñás antes de programar, planificás con tests, delegás en subagentes y verificás todo.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047750" y="4346734"/>
            <a:ext cx="2781300" cy="3733800"/>
          </a:xfrm>
          <a:prstGeom prst="roundRect">
            <a:avLst>
              <a:gd name="adj" fmla="val 2740"/>
            </a:avLst>
          </a:prstGeom>
          <a:solidFill>
            <a:srgbClr val="1A1A2E"/>
          </a:solidFill>
          <a:ln w="9525">
            <a:solidFill>
              <a:srgbClr val="3D2B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2050" y="4432459"/>
            <a:ext cx="1744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616484" y="7851934"/>
            <a:ext cx="1744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285875" y="4642009"/>
            <a:ext cx="25355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285875" y="5175409"/>
            <a:ext cx="2535555" cy="35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75" spc="65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Brainstorming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285875" y="5626418"/>
            <a:ext cx="2381250" cy="103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y decisiones antes de escribir una línea de código.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86200" y="4346734"/>
            <a:ext cx="457200" cy="377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400550" y="4347210"/>
            <a:ext cx="2781300" cy="3733800"/>
          </a:xfrm>
          <a:prstGeom prst="roundRect">
            <a:avLst>
              <a:gd name="adj" fmla="val 2740"/>
            </a:avLst>
          </a:prstGeom>
          <a:solidFill>
            <a:srgbClr val="1A1A2E"/>
          </a:solidFill>
          <a:ln w="9525">
            <a:solidFill>
              <a:srgbClr val="3D2B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4850" y="4432935"/>
            <a:ext cx="1744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969284" y="7852410"/>
            <a:ext cx="1744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638675" y="4642485"/>
            <a:ext cx="25355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4638675" y="5175885"/>
            <a:ext cx="2535555" cy="35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75" spc="65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Plans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4638675" y="5626894"/>
            <a:ext cx="2381250" cy="103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detallado, tarea por tarea, escrito con enfoque TDD.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39000" y="4346734"/>
            <a:ext cx="457200" cy="377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7753350" y="4349432"/>
            <a:ext cx="2781300" cy="3733800"/>
          </a:xfrm>
          <a:prstGeom prst="roundRect">
            <a:avLst>
              <a:gd name="adj" fmla="val 2740"/>
            </a:avLst>
          </a:prstGeom>
          <a:solidFill>
            <a:srgbClr val="1A1A2E">
              <a:alpha val="99000"/>
            </a:srgbClr>
          </a:solidFill>
          <a:ln w="9525">
            <a:solidFill>
              <a:srgbClr val="3D2B1F">
                <a:alpha val="99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7650" y="4435157"/>
            <a:ext cx="1744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0322084" y="7854632"/>
            <a:ext cx="1744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7991475" y="4644707"/>
            <a:ext cx="25355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7991475" y="5178107"/>
            <a:ext cx="2535555" cy="35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75" spc="65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Subagent-Driven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7991475" y="5629116"/>
            <a:ext cx="2381250" cy="1363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Implementación y revisión por subagentes con contexto limpio.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591800" y="4346734"/>
            <a:ext cx="457200" cy="377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11106150" y="4354195"/>
            <a:ext cx="2781300" cy="3733800"/>
          </a:xfrm>
          <a:prstGeom prst="roundRect">
            <a:avLst>
              <a:gd name="adj" fmla="val 2740"/>
            </a:avLst>
          </a:prstGeom>
          <a:solidFill>
            <a:srgbClr val="1A1A2E">
              <a:alpha val="96000"/>
            </a:srgbClr>
          </a:solidFill>
          <a:ln w="9525">
            <a:solidFill>
              <a:srgbClr val="3D2B1F">
                <a:alpha val="96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20450" y="4439920"/>
            <a:ext cx="1744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3674884" y="7859395"/>
            <a:ext cx="1744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1344275" y="4649470"/>
            <a:ext cx="25355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150" dirty="0"/>
          </a:p>
        </p:txBody>
      </p:sp>
      <p:sp>
        <p:nvSpPr>
          <p:cNvPr id="30" name="Text 28"/>
          <p:cNvSpPr/>
          <p:nvPr/>
        </p:nvSpPr>
        <p:spPr>
          <a:xfrm>
            <a:off x="11344275" y="5182870"/>
            <a:ext cx="2535555" cy="35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75" spc="65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2175" dirty="0"/>
          </a:p>
        </p:txBody>
      </p:sp>
      <p:sp>
        <p:nvSpPr>
          <p:cNvPr id="31" name="Text 29"/>
          <p:cNvSpPr/>
          <p:nvPr/>
        </p:nvSpPr>
        <p:spPr>
          <a:xfrm>
            <a:off x="11344275" y="5633879"/>
            <a:ext cx="2381250" cy="103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Pruebas en runtime, sobre el backend y el frontend reales.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944600" y="4346734"/>
            <a:ext cx="457200" cy="377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33" name="Shape 31"/>
          <p:cNvSpPr/>
          <p:nvPr/>
        </p:nvSpPr>
        <p:spPr>
          <a:xfrm>
            <a:off x="14458950" y="4363244"/>
            <a:ext cx="2781300" cy="3733800"/>
          </a:xfrm>
          <a:prstGeom prst="roundRect">
            <a:avLst>
              <a:gd name="adj" fmla="val 2740"/>
            </a:avLst>
          </a:prstGeom>
          <a:solidFill>
            <a:srgbClr val="1A1A2E">
              <a:alpha val="92000"/>
            </a:srgbClr>
          </a:solidFill>
          <a:ln w="9525">
            <a:solidFill>
              <a:srgbClr val="C9A84C">
                <a:alpha val="9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573250" y="4448969"/>
            <a:ext cx="1744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7027684" y="7868444"/>
            <a:ext cx="1744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14697075" y="4658519"/>
            <a:ext cx="25355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150" dirty="0"/>
          </a:p>
        </p:txBody>
      </p:sp>
      <p:sp>
        <p:nvSpPr>
          <p:cNvPr id="37" name="Text 35"/>
          <p:cNvSpPr/>
          <p:nvPr/>
        </p:nvSpPr>
        <p:spPr>
          <a:xfrm>
            <a:off x="14697075" y="5191919"/>
            <a:ext cx="2535555" cy="35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75" spc="65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Finishing Branch</a:t>
            </a:r>
            <a:endParaRPr lang="en-US" sz="2175" dirty="0"/>
          </a:p>
        </p:txBody>
      </p:sp>
      <p:sp>
        <p:nvSpPr>
          <p:cNvPr id="38" name="Text 36"/>
          <p:cNvSpPr/>
          <p:nvPr/>
        </p:nvSpPr>
        <p:spPr>
          <a:xfrm>
            <a:off x="14697075" y="5642928"/>
            <a:ext cx="2381250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Cierre y merge con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27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 tests en verde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345" kern="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— LA MAQUINARIA</a:t>
            </a:r>
            <a:endParaRPr lang="en-US" sz="1725" dirty="0"/>
          </a:p>
        </p:txBody>
      </p:sp>
      <p:sp>
        <p:nvSpPr>
          <p:cNvPr id="3" name="Text 1"/>
          <p:cNvSpPr/>
          <p:nvPr/>
        </p:nvSpPr>
        <p:spPr>
          <a:xfrm>
            <a:off x="1143000" y="1257300"/>
            <a:ext cx="17602200" cy="778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50" b="1" spc="167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Agentes, Skills y Reglas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143000" y="2473643"/>
            <a:ext cx="9124156" cy="6956107"/>
          </a:xfrm>
          <a:prstGeom prst="roundRect">
            <a:avLst>
              <a:gd name="adj" fmla="val 1095"/>
            </a:avLst>
          </a:prstGeom>
          <a:solidFill>
            <a:srgbClr val="1A1A2E"/>
          </a:solidFill>
          <a:ln w="9525">
            <a:solidFill>
              <a:srgbClr val="3D2B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2559368"/>
            <a:ext cx="181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047129" y="9182100"/>
            <a:ext cx="181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57325" y="2807018"/>
            <a:ext cx="93450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Agentes de desarrollo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57325" y="3321368"/>
            <a:ext cx="934505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api-documenter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docs automáticas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457325" y="3783330"/>
            <a:ext cx="934505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architecture-researcher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investiga estructura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457325" y="4245293"/>
            <a:ext cx="934505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bug-debugger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resuelve bugs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457325" y="4707255"/>
            <a:ext cx="934505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code-reviewer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revisa código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457325" y="5169218"/>
            <a:ext cx="934505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dependency-analyzer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analiza dependencias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457325" y="5631180"/>
            <a:ext cx="934505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quality-verifier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verifica integridad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457325" y="6093143"/>
            <a:ext cx="934505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report-generator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genera reportes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0610056" y="2474595"/>
            <a:ext cx="6534944" cy="3306604"/>
          </a:xfrm>
          <a:prstGeom prst="roundRect">
            <a:avLst>
              <a:gd name="adj" fmla="val 2304"/>
            </a:avLst>
          </a:prstGeom>
          <a:solidFill>
            <a:srgbClr val="1A1A2E"/>
          </a:solidFill>
          <a:ln w="9525">
            <a:solidFill>
              <a:srgbClr val="3D2B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24356" y="2560320"/>
            <a:ext cx="1819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924973" y="5533549"/>
            <a:ext cx="181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924381" y="2807970"/>
            <a:ext cx="649692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interactivos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924381" y="3303270"/>
            <a:ext cx="64969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/add-entry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registra actividades desde la CLI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924381" y="3765232"/>
            <a:ext cx="64969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/setup-goals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configura metas de forma interactiva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0610056" y="6126798"/>
            <a:ext cx="6534944" cy="3306604"/>
          </a:xfrm>
          <a:prstGeom prst="roundRect">
            <a:avLst>
              <a:gd name="adj" fmla="val 2304"/>
            </a:avLst>
          </a:prstGeom>
          <a:solidFill>
            <a:srgbClr val="1A1A2E">
              <a:alpha val="98000"/>
            </a:srgbClr>
          </a:solidFill>
          <a:ln w="9525">
            <a:solidFill>
              <a:srgbClr val="3D2B1F">
                <a:alpha val="9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24356" y="6212523"/>
            <a:ext cx="1819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924973" y="9185751"/>
            <a:ext cx="181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924381" y="6460173"/>
            <a:ext cx="649692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Reglas del proyecto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0924381" y="6955473"/>
            <a:ext cx="1107122" cy="485775"/>
          </a:xfrm>
          <a:prstGeom prst="roundRect">
            <a:avLst>
              <a:gd name="adj" fmla="val 50000"/>
            </a:avLst>
          </a:prstGeom>
          <a:solidFill>
            <a:srgbClr val="22223A"/>
          </a:solidFill>
          <a:ln w="9525">
            <a:solidFill>
              <a:srgbClr val="3D2B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24406" y="7060248"/>
            <a:ext cx="78327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api.md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164854" y="6955473"/>
            <a:ext cx="1814671" cy="485775"/>
          </a:xfrm>
          <a:prstGeom prst="roundRect">
            <a:avLst>
              <a:gd name="adj" fmla="val 50000"/>
            </a:avLst>
          </a:prstGeom>
          <a:solidFill>
            <a:srgbClr val="22223A"/>
          </a:solidFill>
          <a:ln w="9525">
            <a:solidFill>
              <a:srgbClr val="3D2B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64879" y="7060248"/>
            <a:ext cx="149082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code-style.md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4112875" y="6955473"/>
            <a:ext cx="1590834" cy="485775"/>
          </a:xfrm>
          <a:prstGeom prst="roundRect">
            <a:avLst>
              <a:gd name="adj" fmla="val 50000"/>
            </a:avLst>
          </a:prstGeom>
          <a:solidFill>
            <a:srgbClr val="22223A"/>
          </a:solidFill>
          <a:ln w="9525">
            <a:solidFill>
              <a:srgbClr val="3D2B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312900" y="7060248"/>
            <a:ext cx="12669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security.md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924381" y="7574598"/>
            <a:ext cx="1479709" cy="485775"/>
          </a:xfrm>
          <a:prstGeom prst="roundRect">
            <a:avLst>
              <a:gd name="adj" fmla="val 50000"/>
            </a:avLst>
          </a:prstGeom>
          <a:solidFill>
            <a:srgbClr val="22223A"/>
          </a:solidFill>
          <a:ln w="9525">
            <a:solidFill>
              <a:srgbClr val="3D2B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24406" y="7679373"/>
            <a:ext cx="115585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testing.md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345" kern="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— EL RESULTADO</a:t>
            </a:r>
            <a:endParaRPr lang="en-US" sz="1725" dirty="0"/>
          </a:p>
        </p:txBody>
      </p:sp>
      <p:sp>
        <p:nvSpPr>
          <p:cNvPr id="3" name="Text 1"/>
          <p:cNvSpPr/>
          <p:nvPr/>
        </p:nvSpPr>
        <p:spPr>
          <a:xfrm>
            <a:off x="1143000" y="1257300"/>
            <a:ext cx="17602200" cy="778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50" b="1" spc="167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produjo el flujo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143000" y="2473643"/>
            <a:ext cx="5835650" cy="6956107"/>
          </a:xfrm>
          <a:prstGeom prst="roundRect">
            <a:avLst>
              <a:gd name="adj" fmla="val 1306"/>
            </a:avLst>
          </a:prstGeom>
          <a:solidFill>
            <a:srgbClr val="1A1A2E"/>
          </a:solidFill>
          <a:ln w="9525">
            <a:solidFill>
              <a:srgbClr val="3D2B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2559368"/>
            <a:ext cx="181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758622" y="9182100"/>
            <a:ext cx="181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57325" y="2807018"/>
            <a:ext cx="5727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· Python / FastAPI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57325" y="3321368"/>
            <a:ext cx="572770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constraint único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57325" y="3827145"/>
            <a:ext cx="5363210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Migración Alembic reusando el tipo PostgreSQL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57325" y="4667250"/>
            <a:ext cx="572770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endpoints REST con auth JWT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57325" y="5173027"/>
            <a:ext cx="5727700" cy="37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Progreso calculado en query time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321550" y="2474595"/>
            <a:ext cx="5835650" cy="6956107"/>
          </a:xfrm>
          <a:prstGeom prst="roundRect">
            <a:avLst>
              <a:gd name="adj" fmla="val 1306"/>
            </a:avLst>
          </a:prstGeom>
          <a:solidFill>
            <a:srgbClr val="1A1A2E"/>
          </a:solidFill>
          <a:ln w="9525">
            <a:solidFill>
              <a:srgbClr val="3D2B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35850" y="2560320"/>
            <a:ext cx="1819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937173" y="9183052"/>
            <a:ext cx="1819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35875" y="2807970"/>
            <a:ext cx="5727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· Vue 3 / Pinia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635875" y="3322320"/>
            <a:ext cx="5727700" cy="37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goals.js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refresh automático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635875" y="3828097"/>
            <a:ext cx="572770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GoalCard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progreso circular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635875" y="4333875"/>
            <a:ext cx="572770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Vistas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GoalsView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GoalFormView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635875" y="4839653"/>
            <a:ext cx="5727700" cy="37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Widget en Dashboard con mini-ring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3500100" y="2473643"/>
            <a:ext cx="3644900" cy="3373279"/>
          </a:xfrm>
          <a:prstGeom prst="roundRect">
            <a:avLst>
              <a:gd name="adj" fmla="val 2259"/>
            </a:avLst>
          </a:prstGeom>
          <a:solidFill>
            <a:srgbClr val="1A1A2E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576300" y="2559368"/>
            <a:ext cx="181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6886873" y="5599271"/>
            <a:ext cx="181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859952" y="3583940"/>
            <a:ext cx="92503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27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6300" dirty="0"/>
          </a:p>
        </p:txBody>
      </p:sp>
      <p:sp>
        <p:nvSpPr>
          <p:cNvPr id="24" name="Text 22"/>
          <p:cNvSpPr/>
          <p:nvPr/>
        </p:nvSpPr>
        <p:spPr>
          <a:xfrm>
            <a:off x="14492042" y="4460240"/>
            <a:ext cx="166085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72" kern="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en verde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500735" y="6057106"/>
            <a:ext cx="3643471" cy="3372009"/>
          </a:xfrm>
          <a:prstGeom prst="roundRect">
            <a:avLst>
              <a:gd name="adj" fmla="val 2260"/>
            </a:avLst>
          </a:prstGeom>
          <a:solidFill>
            <a:srgbClr val="1A1A2E">
              <a:alpha val="99000"/>
            </a:srgbClr>
          </a:solidFill>
          <a:ln w="9525">
            <a:solidFill>
              <a:srgbClr val="3D2B1F">
                <a:alpha val="99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576935" y="6142831"/>
            <a:ext cx="181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886238" y="9181465"/>
            <a:ext cx="181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4493089" y="7262178"/>
            <a:ext cx="1658763" cy="647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14100865" y="7947819"/>
            <a:ext cx="2443528" cy="31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72" kern="0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plan completado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94320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345" kern="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— DEMO</a:t>
            </a:r>
            <a:endParaRPr lang="en-US" sz="1725" dirty="0"/>
          </a:p>
        </p:txBody>
      </p:sp>
      <p:sp>
        <p:nvSpPr>
          <p:cNvPr id="3" name="Text 1"/>
          <p:cNvSpPr/>
          <p:nvPr/>
        </p:nvSpPr>
        <p:spPr>
          <a:xfrm>
            <a:off x="1047750" y="1200150"/>
            <a:ext cx="9432020" cy="778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50" b="1" spc="167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resultado, funcionando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4539436" y="1406842"/>
            <a:ext cx="2700814" cy="533400"/>
          </a:xfrm>
          <a:prstGeom prst="roundRect">
            <a:avLst>
              <a:gd name="adj" fmla="val 50000"/>
            </a:avLst>
          </a:prstGeom>
          <a:ln w="9525">
            <a:solidFill>
              <a:srgbClr val="27C97A">
                <a:alpha val="99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815661" y="1530667"/>
            <a:ext cx="2229388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27C97A">
                    <a:alpha val="99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en vivo →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47750" y="2378392"/>
            <a:ext cx="8947150" cy="7108507"/>
          </a:xfrm>
          <a:prstGeom prst="roundRect">
            <a:avLst>
              <a:gd name="adj" fmla="val 1340"/>
            </a:avLst>
          </a:prstGeom>
          <a:solidFill>
            <a:srgbClr val="1A1A2E"/>
          </a:solidFill>
          <a:ln w="9525">
            <a:solidFill>
              <a:srgbClr val="3D2B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1100" y="2473643"/>
            <a:ext cx="18954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748203" y="9220200"/>
            <a:ext cx="18954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12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71575" y="2502218"/>
            <a:ext cx="8699500" cy="686085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281603" y="2379027"/>
            <a:ext cx="6957854" cy="4471194"/>
          </a:xfrm>
          <a:prstGeom prst="roundRect">
            <a:avLst>
              <a:gd name="adj" fmla="val 2130"/>
            </a:avLst>
          </a:prstGeom>
          <a:solidFill>
            <a:srgbClr val="1A1A2E"/>
          </a:solidFill>
          <a:ln w="9525">
            <a:solidFill>
              <a:srgbClr val="3D2B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14793" y="2474119"/>
            <a:ext cx="18954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16992758" y="6583521"/>
            <a:ext cx="1895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12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05268" y="2502694"/>
            <a:ext cx="6710204" cy="42235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284301" y="7137718"/>
            <a:ext cx="6952456" cy="2348071"/>
          </a:xfrm>
          <a:prstGeom prst="roundRect">
            <a:avLst>
              <a:gd name="adj" fmla="val 4057"/>
            </a:avLst>
          </a:prstGeom>
          <a:solidFill>
            <a:srgbClr val="1A1A2E">
              <a:alpha val="98000"/>
            </a:srgbClr>
          </a:solidFill>
          <a:ln w="9525">
            <a:solidFill>
              <a:srgbClr val="3D2B1F">
                <a:alpha val="98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398442" y="7223284"/>
            <a:ext cx="181769" cy="1998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7016889" y="9238298"/>
            <a:ext cx="181769" cy="1998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0503059" y="7337425"/>
            <a:ext cx="7166261" cy="275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58" kern="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METAS · PROGRESO AUTOMÁTICO</a:t>
            </a:r>
            <a:endParaRPr lang="en-US" sz="1575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3059" y="7708582"/>
            <a:ext cx="6514783" cy="1577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375664" y="533400"/>
            <a:ext cx="3027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143000" y="85725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345" kern="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— POR QUÉ IMPORTA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1143000" y="1257300"/>
            <a:ext cx="1760220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162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Superpowers potencia el desarrollo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143000" y="2434590"/>
            <a:ext cx="8507730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antes de código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menos retrabajo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9410700" y="2434749"/>
            <a:ext cx="8507730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TDD en cada tarea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confianza en cada paso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1143000" y="3031807"/>
            <a:ext cx="8507730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Subagentes con contexto limpio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CBB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foco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9410700" y="3033236"/>
            <a:ext cx="8507730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C9A84C">
                    <a:alpha val="99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Revisión en dos etapas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CBB89C">
                    <a:alpha val="99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calidad verificable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143000" y="3631724"/>
            <a:ext cx="8507730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C9A84C">
                    <a:alpha val="9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YAGNI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CBB89C">
                    <a:alpha val="9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sin features de más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9410700" y="3635375"/>
            <a:ext cx="8507730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C9A84C">
                    <a:alpha val="9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Commits frecuentes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CBB89C">
                    <a:alpha val="9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historial claro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1143000" y="4528185"/>
            <a:ext cx="16002000" cy="1695450"/>
          </a:xfrm>
          <a:prstGeom prst="roundRect">
            <a:avLst>
              <a:gd name="adj" fmla="val 4494"/>
            </a:avLst>
          </a:prstGeom>
          <a:solidFill>
            <a:srgbClr val="1A1A2E">
              <a:alpha val="99000"/>
            </a:srgbClr>
          </a:solidFill>
          <a:ln w="9525">
            <a:solidFill>
              <a:srgbClr val="C9A84C">
                <a:alpha val="99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76350" y="4623435"/>
            <a:ext cx="18954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6898302" y="5956935"/>
            <a:ext cx="18954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305211" y="4861560"/>
            <a:ext cx="1567757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00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rápido, más ordenado y con </a:t>
            </a:r>
            <a:pPr algn="ctr" indent="0" marL="0">
              <a:lnSpc>
                <a:spcPct val="135000"/>
              </a:lnSpc>
              <a:buNone/>
            </a:pPr>
            <a:r>
              <a:rPr lang="en-US" sz="3000" dirty="0">
                <a:solidFill>
                  <a:srgbClr val="27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calidad verificable </a:t>
            </a:r>
            <a:pPr algn="ctr" indent="0" marL="0">
              <a:lnSpc>
                <a:spcPct val="135000"/>
              </a:lnSpc>
              <a:buNone/>
            </a:pPr>
            <a:r>
              <a:rPr lang="en-US" sz="300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el plugin convierte una idea en software entregable.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463314" y="8610600"/>
            <a:ext cx="36975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399" kern="0" dirty="0">
                <a:solidFill>
                  <a:srgbClr val="C9A84C">
                    <a:alpha val="99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LifeTracker ✦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5238274" y="9144000"/>
            <a:ext cx="859259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8A7A6A">
                    <a:alpha val="99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«Juro solemnemente que mis intenciones son guardar cada momento.»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2026-06-17T22:03:35Z</dcterms:created>
  <dcterms:modified xsi:type="dcterms:W3CDTF">2026-06-17T22:03:35Z</dcterms:modified>
</cp:coreProperties>
</file>